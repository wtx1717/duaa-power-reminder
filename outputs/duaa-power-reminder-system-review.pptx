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88df6b8b3f4ee9" /><Relationship Type="http://schemas.openxmlformats.org/officeDocument/2006/relationships/extended-properties" Target="/docProps/app.xml" Id="R2ecd7d617b8647eb" /><Relationship Type="http://schemas.openxmlformats.org/officeDocument/2006/relationships/officeDocument" Target="/ppt/presentation.xml" Id="R0974ae7644de46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9ae6b5bb54b52"/>
  </p:sldMasterIdLst>
  <p:notesMasterIdLst>
    <p:notesMasterId xmlns:r="http://schemas.openxmlformats.org/officeDocument/2006/relationships" r:id="R6bcc05464b5d4167"/>
  </p:notesMasterIdLst>
  <p:sldIdLst>
    <p:sldId xmlns:r="http://schemas.openxmlformats.org/officeDocument/2006/relationships" id="256" r:id="R465f65cc43e34919"/>
    <p:sldId xmlns:r="http://schemas.openxmlformats.org/officeDocument/2006/relationships" id="257" r:id="Ra05db6d1e9fb4cf1"/>
    <p:sldId xmlns:r="http://schemas.openxmlformats.org/officeDocument/2006/relationships" id="258" r:id="R7f562085e878480c"/>
    <p:sldId xmlns:r="http://schemas.openxmlformats.org/officeDocument/2006/relationships" id="259" r:id="Rd673342b80344ae4"/>
    <p:sldId xmlns:r="http://schemas.openxmlformats.org/officeDocument/2006/relationships" id="260" r:id="Rff39a2dcdd944426"/>
    <p:sldId xmlns:r="http://schemas.openxmlformats.org/officeDocument/2006/relationships" id="261" r:id="R12d27922091d43f3"/>
    <p:sldId xmlns:r="http://schemas.openxmlformats.org/officeDocument/2006/relationships" id="262" r:id="Rf9dd7835759b4810"/>
    <p:sldId xmlns:r="http://schemas.openxmlformats.org/officeDocument/2006/relationships" id="263" r:id="R6c661a66e6cf4700"/>
    <p:sldId xmlns:r="http://schemas.openxmlformats.org/officeDocument/2006/relationships" id="264" r:id="Rf5b1a1088de94fbb"/>
    <p:sldId xmlns:r="http://schemas.openxmlformats.org/officeDocument/2006/relationships" id="265" r:id="R9a6fc9247f0c424c"/>
    <p:sldId xmlns:r="http://schemas.openxmlformats.org/officeDocument/2006/relationships" id="266" r:id="Rf852cc582e4749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e3753aa53c4232" /><Relationship Type="http://schemas.openxmlformats.org/officeDocument/2006/relationships/slideMaster" Target="/ppt/slideMasters/slideMaster1.xml" Id="Rcdf9ae6b5bb54b52" /><Relationship Type="http://schemas.openxmlformats.org/officeDocument/2006/relationships/notesMaster" Target="/ppt/notesMasters/notesMaster1.xml" Id="R6bcc05464b5d4167" /><Relationship Type="http://schemas.openxmlformats.org/officeDocument/2006/relationships/presProps" Target="/ppt/presProps.xml" Id="R3a3fb241ce974376" /><Relationship Type="http://schemas.openxmlformats.org/officeDocument/2006/relationships/tableStyles" Target="/ppt/tableStyles.xml" Id="R0b055b6a1c664411" /><Relationship Type="http://schemas.openxmlformats.org/officeDocument/2006/relationships/slide" Target="/ppt/slides/slide1.xml" Id="R465f65cc43e34919" /><Relationship Type="http://schemas.openxmlformats.org/officeDocument/2006/relationships/slide" Target="/ppt/slides/slide2.xml" Id="Ra05db6d1e9fb4cf1" /><Relationship Type="http://schemas.openxmlformats.org/officeDocument/2006/relationships/slide" Target="/ppt/slides/slide3.xml" Id="R7f562085e878480c" /><Relationship Type="http://schemas.openxmlformats.org/officeDocument/2006/relationships/slide" Target="/ppt/slides/slide4.xml" Id="Rd673342b80344ae4" /><Relationship Type="http://schemas.openxmlformats.org/officeDocument/2006/relationships/slide" Target="/ppt/slides/slide5.xml" Id="Rff39a2dcdd944426" /><Relationship Type="http://schemas.openxmlformats.org/officeDocument/2006/relationships/slide" Target="/ppt/slides/slide6.xml" Id="R12d27922091d43f3" /><Relationship Type="http://schemas.openxmlformats.org/officeDocument/2006/relationships/slide" Target="/ppt/slides/slide7.xml" Id="Rf9dd7835759b4810" /><Relationship Type="http://schemas.openxmlformats.org/officeDocument/2006/relationships/slide" Target="/ppt/slides/slide8.xml" Id="R6c661a66e6cf4700" /><Relationship Type="http://schemas.openxmlformats.org/officeDocument/2006/relationships/slide" Target="/ppt/slides/slide9.xml" Id="Rf5b1a1088de94fbb" /><Relationship Type="http://schemas.openxmlformats.org/officeDocument/2006/relationships/slide" Target="/ppt/slides/slide10.xml" Id="R9a6fc9247f0c424c" /><Relationship Type="http://schemas.openxmlformats.org/officeDocument/2006/relationships/slide" Target="/ppt/slides/slide11.xml" Id="Rf852cc582e4749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7f099d10b547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f81f8154114f94" /><Relationship Type="http://schemas.openxmlformats.org/officeDocument/2006/relationships/notesMaster" Target="/ppt/notesMasters/notesMaster1.xml" Id="Rba14e1ab61f74d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19b259b5214d60" /><Relationship Type="http://schemas.openxmlformats.org/officeDocument/2006/relationships/notesMaster" Target="/ppt/notesMasters/notesMaster1.xml" Id="Raa4f4f467ae740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4e292c64e44b73" /><Relationship Type="http://schemas.openxmlformats.org/officeDocument/2006/relationships/notesMaster" Target="/ppt/notesMasters/notesMaster1.xml" Id="R0493c5e5b0de4e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d36cefe2047f2" /><Relationship Type="http://schemas.openxmlformats.org/officeDocument/2006/relationships/notesMaster" Target="/ppt/notesMasters/notesMaster1.xml" Id="R0733ca56b28f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6442b3fa54957" /><Relationship Type="http://schemas.openxmlformats.org/officeDocument/2006/relationships/notesMaster" Target="/ppt/notesMasters/notesMaster1.xml" Id="R7918d4ccd8b7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9d90db4a214a65" /><Relationship Type="http://schemas.openxmlformats.org/officeDocument/2006/relationships/notesMaster" Target="/ppt/notesMasters/notesMaster1.xml" Id="R4eae2be10ea44d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3d42cd52e84345" /><Relationship Type="http://schemas.openxmlformats.org/officeDocument/2006/relationships/notesMaster" Target="/ppt/notesMasters/notesMaster1.xml" Id="R50e720f2799a42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7cf9df7ab648dd" /><Relationship Type="http://schemas.openxmlformats.org/officeDocument/2006/relationships/notesMaster" Target="/ppt/notesMasters/notesMaster1.xml" Id="Re4e4ce9a4bff4e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cc986a968247c1" /><Relationship Type="http://schemas.openxmlformats.org/officeDocument/2006/relationships/notesMaster" Target="/ppt/notesMasters/notesMaster1.xml" Id="Rb98f543b23a242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abd3dd9f614487" /><Relationship Type="http://schemas.openxmlformats.org/officeDocument/2006/relationships/notesMaster" Target="/ppt/notesMasters/notesMaster1.xml" Id="R8adb452e05e044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56443644aa47d6" /><Relationship Type="http://schemas.openxmlformats.org/officeDocument/2006/relationships/notesMaster" Target="/ppt/notesMasters/notesMaster1.xml" Id="Rdf11df74ae1045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8f74f996849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9a938f3a29432f" /><Relationship Type="http://schemas.openxmlformats.org/officeDocument/2006/relationships/slideLayout" Target="/ppt/slideLayouts/slideLayout1.xml" Id="Rd2cf8bf3cff04d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f8bf3cff04d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b2742bc894aea" /><Relationship Type="http://schemas.openxmlformats.org/officeDocument/2006/relationships/notesSlide" Target="/ppt/notesSlides/notesSlide1.xml" Id="R1e0124ca436e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0f5b201e5420a" /><Relationship Type="http://schemas.openxmlformats.org/officeDocument/2006/relationships/notesSlide" Target="/ppt/notesSlides/notesSlide2.xml" Id="Rf366d29dce9d4b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e87952f1349a4" /><Relationship Type="http://schemas.openxmlformats.org/officeDocument/2006/relationships/notesSlide" Target="/ppt/notesSlides/notesSlide3.xml" Id="R0d02cd2e9b6a47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8897877274758" /><Relationship Type="http://schemas.openxmlformats.org/officeDocument/2006/relationships/notesSlide" Target="/ppt/notesSlides/notesSlide4.xml" Id="R7dc19cf5ad1045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600c5e5154d82" /><Relationship Type="http://schemas.openxmlformats.org/officeDocument/2006/relationships/notesSlide" Target="/ppt/notesSlides/notesSlide5.xml" Id="R1691e5a3d3604c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3b0f7012048f3" /><Relationship Type="http://schemas.openxmlformats.org/officeDocument/2006/relationships/notesSlide" Target="/ppt/notesSlides/notesSlide6.xml" Id="Rf21f9f391748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9154411f54c68" /><Relationship Type="http://schemas.openxmlformats.org/officeDocument/2006/relationships/notesSlide" Target="/ppt/notesSlides/notesSlide7.xml" Id="R0f498b622b6b4d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8481bd5714272" /><Relationship Type="http://schemas.openxmlformats.org/officeDocument/2006/relationships/notesSlide" Target="/ppt/notesSlides/notesSlide8.xml" Id="R753bb6c5cfe846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12c48ba2e4cec" /><Relationship Type="http://schemas.openxmlformats.org/officeDocument/2006/relationships/notesSlide" Target="/ppt/notesSlides/notesSlide9.xml" Id="R11f7afa024c54f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e79c4a07b4b68" /><Relationship Type="http://schemas.openxmlformats.org/officeDocument/2006/relationships/notesSlide" Target="/ppt/notesSlides/notesSlide10.xml" Id="R6faa8268200e42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3c42b0f5b4c36" /><Relationship Type="http://schemas.openxmlformats.org/officeDocument/2006/relationships/notesSlide" Target="/ppt/notesSlides/notesSlide11.xml" Id="R52864760590e41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14D40-299E-4C84-A742-CB111D8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DUAA POWER REMINDER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1A655-C0F1-4F44-9C85-09493EDD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382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宿舍电量提醒系统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功能流程与调度模型复盘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76913-72ED-40D7-B877-4E12D023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围绕小程序配置、后台错峰查询、低电提醒、容量覆盖与 dormant 优化展开。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64C9C-7CD6-45A4-8D25-79B1C0D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62050"/>
            <a:ext cx="24955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8CED3-4131-4BED-A8D9-89537260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62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23CA5-E1FF-41B1-B7BC-34362627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80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当前闭环可用；在目标规模内容量足够。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下一步重点不是扩大并发，而是保护日耗估算不被假期闲置样本污染。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7BADC-22B6-4623-BBBE-8BC804FE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2026-07-18</a:t>
            </a:r>
          </a:p>
        </p:txBody>
      </p:sp>
    </p:spTree>
    <p:extLst>
      <p:ext uri="{BB962C8B-B14F-4D97-AF65-F5344CB8AC3E}">
        <p14:creationId xmlns:p14="http://schemas.microsoft.com/office/powerpoint/2010/main" val="6358216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0FAC6-3794-43DA-9E9A-7C9244E0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01 / 功能定位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06202-D413-43A4-A39D-A1B9B807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系统解决的是“低电之前提醒”，不是实时抄表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3EA4-39E1-460D-836B-7FE47343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3C46A-908F-411A-A2A8-7B4E0837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D4E8A-1DA4-472F-A2E6-9E300CF7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0C370-7544-4A2D-8A63-D1260E38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21C79-D308-4B53-B119-9832BB32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填写照明表、空调表和邮箱；可手动查询当前电量；保存后由后台持续采样。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7D684-5BAA-495C-88AB-F5540BD6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0DB26-56D0-4FFF-808E-D3AE7FA8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88947-A517-4F2A-9B75-3E1B42CB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95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后台侧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55342-C84F-4740-8329-20560623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1460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按 meters.nextCheckAt 找到期电表，生成错峰任务，再由分发函数执行查询。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E9726-78E2-4368-8C06-19D4E72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F3097-DDD8-4382-9FF4-2750FD17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0EC01-28A0-4B7C-A971-B827CE81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提醒侧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35B5E-7F88-4C50-AF56-3EA5EC2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914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当后台采样发现 remainingKwh &lt;= 20，并且本低电周期未成功提醒，发送邮件并记录。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85D1C-F185-43E2-9C49-C056B0EE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边界假设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36820-845C-4E93-802D-5113A2F5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86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34993-14A8-4B1C-88B5-C928AA57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同一电表只维护一份 meters 状态；用户应尽量避免填错表号或类型。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A7589-600D-4564-89C4-F48C0D82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E03BF-EAF4-48E4-B1BB-6AC2F473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手动查询用于展示，不参与动态调度和低电周期建模。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900F2-8FF6-48E0-A100-D93C36CB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8C9AE-63C3-4812-841C-436F0802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21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学校页面、SMTP 服务和云数据库索引是外部稳定性依赖。</a:t>
            </a:r>
          </a:p>
        </p:txBody>
      </p:sp>
    </p:spTree>
    <p:extLst>
      <p:ext uri="{BB962C8B-B14F-4D97-AF65-F5344CB8AC3E}">
        <p14:creationId xmlns:p14="http://schemas.microsoft.com/office/powerpoint/2010/main" val="754366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31BD7-E00C-4CA0-BA16-3C2A73F5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02 / 用户流程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7A98A-88FC-4F55-B5F4-350E6BDF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前台流程先保证配置归属，再允许查询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E8DB0-E0CE-4EBB-9365-64EE5FCA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44E60-F686-4339-ADE2-D8EC6870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打开小程序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D83F8-BBBD-4E22-8012-72CB6F87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33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B6EFB-4B95-492A-AE2D-DB0C9FA3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1F9D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读取配置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user_configs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E8DD0-5397-4B0B-9460-8DCB5DE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1DA0E-793F-4D3F-AB5A-763B2D7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8A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保存表号与邮箱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saveConfig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FACBD-B4DA-45D4-8EA8-2CA2E96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1C191-73CE-4A31-A471-5E5B297C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手动查询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queryPower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C1612-B105-4E92-8427-60A02F64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33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99558-7A8C-4F31-9839-54267123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1524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1F9D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展示最近状态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5B2B5-260C-47A0-8E15-6AD8F4D8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08E5A-B45A-40C8-9BFB-B34FBA39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25AC5-4AA2-49CC-A8C4-4E1E738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openid 必须来自微信云上下文。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E52EB-7584-4F6A-B04B-17D96FB3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3ED06-E239-4F81-A9D1-D244489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照明表和空调表不能为空，且不能相同。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471B3-7729-4AE3-AC81-C4C52146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EF0B1-5EC3-4D3B-8BFE-C9F6ABC5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邮箱必须合法；后端固定写入 thresholdKwh = 20。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FCC67-FC45-466C-BA47-0A1CF0B1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26BF6-3D7E-435E-B4C4-25BF1CEF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queryPower 会确认本次表号属于当前用户配置。</a:t>
            </a:r>
          </a:p>
        </p:txBody>
      </p:sp>
    </p:spTree>
    <p:extLst>
      <p:ext uri="{BB962C8B-B14F-4D97-AF65-F5344CB8AC3E}">
        <p14:creationId xmlns:p14="http://schemas.microsoft.com/office/powerpoint/2010/main" val="883736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3CB85-D3CF-450F-BE46-D255A7D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03 / 后台调度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E5F12-29F2-438B-887F-880917F8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nextCheckAt 只是入队资格，实际查询由 job 错峰执行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43B23-A1D0-422E-A75D-53B3EEF4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31F6C-61BE-4B4E-B63C-EC021C56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733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meters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nextCheckAt &lt;=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34B71-EE90-4975-954D-D5E10914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F7A0F-B888-43CD-8F52-D086D60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1733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1F9D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scheduledCheck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规划最多 50 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C136A-CC5C-4AF5-9C27-AD540841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09492-3DD7-43A7-9E58-E2411231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1733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8A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meter_check_jobs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 分钟随机错峰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CD37F-6FC5-41D4-B4BB-8D5E4BCF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BC98A-BCA3-4AFF-B303-415A188E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7335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1F9D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scheduledCheckDispatch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 5 分钟执行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510E-0420-4C1D-B91D-E7C0C5B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D3B5E-CAC2-4E07-9B67-E4FF91DB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000250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records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meters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4C8C7-9788-478A-A171-E8C13F0B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143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3F43D-B6A9-4172-85C0-19217D4B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3E344-F384-455C-A7DE-D9697C9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规划函数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A5EEC0-96CD-4F71-B7AF-7B037C2B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只挑选到期电表并生成 job；用 job_locks 降低并发重复规划风险。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1F3C8-8C9A-4876-A65A-41346A41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3143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144D1-07AE-48F5-95C1-0D09FF1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B81D9-62B6-4B95-A365-747C6243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分发函数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32793-50B5-47E5-BBA9-BEB49448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053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只执行 plannedAt 已到点的 pending job；抢占后查询学校页面。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BADCC-0E46-4C67-BFE2-26053FE2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3143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5BBC03-B50A-4860-9A73-C8B388BC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F9C0E-C8B7-467A-B9B9-4F997760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F138E-67F1-46E7-B8A3-539E3020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成功写 power_records，更新 nextCheckAt；低电时调用邮件函数。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A54ED-2ADA-48ED-B394-123A8B4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结论：nextCheckAt 到了不等于立刻查，只表示下一轮 scheduledCheck 可以把它放进任务表。</a:t>
            </a:r>
          </a:p>
        </p:txBody>
      </p:sp>
    </p:spTree>
    <p:extLst>
      <p:ext uri="{BB962C8B-B14F-4D97-AF65-F5344CB8AC3E}">
        <p14:creationId xmlns:p14="http://schemas.microsoft.com/office/powerpoint/2010/main" val="1486953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A92A9-4020-4854-9084-1C166B8E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04 / nextCheckAt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917EA-7F27-47AE-8FBC-4330C6CA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两个电表的时间差来自日耗估算和“提前两天”安全边际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24352-B645-44DA-91B5-6D4F0E5C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3469F-B0C7-4858-BA01-FFFF79EC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normal 模式公式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04B3B-8CD4-4EB2-8F44-7CB4579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343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FEF4B-BBFD-4D11-8B46-AE1A6941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886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daysUntilThreshold = (remainingKwh - 20) / estimatedDailyUsageKwh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daysUntilNextCheck = max(1, daysUntilThreshold - 2)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nextCheckAt = 当前采样时间 + daysUntilNextCheck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36497-D254-40DD-8A27-91C9889E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14F75-F092-4B99-A8A1-80423556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E0193-A445-4A0E-8152-C8BCD164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145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44878 / 空调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14A3D-7C5D-48CC-90A7-72FE0063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33650"/>
            <a:ext cx="2247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2026-07-17 16:25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remaining = 63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estimated = 4.55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约 7.44 天后复查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落到 2026-07-25 02:59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3DB9D-686D-4A96-931F-C3587499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8C628-D0F1-4520-86D1-66C70F04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FBC54-1773-4FB0-B638-9C82C87D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43792 / 照明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E9716-C26E-4077-83FC-62C629F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33650"/>
            <a:ext cx="2247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2026-07-17 09:05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remaining = 69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estimated = 7.84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约 4.25 天后复查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落到 2026-07-21 15:00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5A19A-4CDE-4F8D-B8C4-BF57A4C2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凌晨到期也没关系：规划函数只在工作窗口运行，凌晨到期的表会顺延到下一个可规划时间。</a:t>
            </a:r>
          </a:p>
        </p:txBody>
      </p:sp>
    </p:spTree>
    <p:extLst>
      <p:ext uri="{BB962C8B-B14F-4D97-AF65-F5344CB8AC3E}">
        <p14:creationId xmlns:p14="http://schemas.microsoft.com/office/powerpoint/2010/main" val="1929496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AADC8-37CE-496A-B26B-E7C56CB3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05 / 数学建模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B344F-3423-416F-98BA-999F4458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当前模型用后台采样推断正常日耗，再决定下一次查询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9BDF5-361E-43DE-AE98-80736256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50294-58A9-49B9-8E33-1E31439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33813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3FD40-1536-47C7-9F18-3538CDDA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11CEF-6746-4E82-9344-2B9D62A8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估算更新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50EF4-F621-4299-9954-58D7BA74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9622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只使用 source = scheduledCheck 且 ok = true 的历史记录。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observed = (previous - current) / elapsedDays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estimated = old * 0.7 + observed * 0.3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76ED5-57F7-4FF1-A082-32FAE00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33813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EB787-B226-4893-A168-2E1486D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9AA4F-C5D7-4652-A3FD-97BA22BC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状态切换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B8FD0-0590-4439-AFD4-CB6C9C78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9622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remaining &lt;= 20：notified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20 &lt; remaining &lt;= 25：near_threshold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其他：normal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充值检测：本次比上次高至少 5 kWh。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E12E0-BA02-4A18-90B7-1ADFC569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33813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4C2DA-6FFD-4480-A6B0-5613D9C0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DCF8F-501E-4B02-842E-BC53BBE6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2741E-01A5-4657-B413-EFBFA230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9622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寒暑假或空调淡季会产生低耗样本。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如果直接下调 estimatedDailyUsageKwh，开学或恢复用电后可能查得过晚。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5EF86-4723-4C6F-A255-12F7137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核心风险：estimatedDailyUsageKwh 应该表示“正常使用时的日耗”，而不是“日历时间平均日耗”。</a:t>
            </a:r>
          </a:p>
        </p:txBody>
      </p:sp>
    </p:spTree>
    <p:extLst>
      <p:ext uri="{BB962C8B-B14F-4D97-AF65-F5344CB8AC3E}">
        <p14:creationId xmlns:p14="http://schemas.microsoft.com/office/powerpoint/2010/main" val="839304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DA6393-EE55-4488-8A34-16A9CDD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06 / 容量模型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DBF77-9EE4-41C2-BC27-3801547D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目标规模下，当前调度能力够用，主要风险来自集中到期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CBC3B-EC07-42BA-AD5A-3EA2E19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A01CD-BD73-48AD-BBCD-3EDC3978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AB3D0-CA29-45EA-86DD-680F01B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1350 / 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31029-BD67-4105-B6C9-A572F551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规划上限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DE641-EFA2-421A-9DC4-F1903035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50 个/轮 × 27 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400C5-01C4-44C3-8420-5D2992DF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669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0132C-4C69-4AFF-BE80-94595E2C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9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F9D68"/>
                </a:solidFill>
                <a:latin typeface="Microsoft YaHei"/>
                <a:ea typeface="Microsoft YaHei"/>
                <a:cs typeface="Microsoft YaHei"/>
              </a:rPr>
              <a:t>约 1630 /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851ED-DF35-4C5A-88A5-3A067E7C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分发上限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8FD9E-DE3F-4C3C-892D-07D95DB2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10 个/轮 × 约 163 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4876E-2275-41E1-9E97-5EC14B1D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D0DEC-2ACB-4144-9566-26E91C12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8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8A26"/>
                </a:solidFill>
                <a:latin typeface="Microsoft YaHei"/>
                <a:ea typeface="Microsoft YaHei"/>
                <a:cs typeface="Microsoft YaHei"/>
              </a:rPr>
              <a:t>267 / 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17993-5309-4413-853A-0F6A5AC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8000 表均摊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A64BE-5945-4796-8A6D-EDA764BE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765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每表约每月查一次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350EA-E898-4820-9704-11BC1F8E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669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D0A53-1574-42AA-A1E0-00630AD9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764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133 /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C2ED2-1D36-4E8C-A91F-93671774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4000 表均摊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18AB9-C18A-46A8-AFA4-BF868DB1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实际目标规模更宽松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FEDB7-1A03-4D17-AAA5-F30EA85D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81650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C649E-FFF7-4139-88D2-E082FEDF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133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B1A60-B7BC-410C-B3B0-A7865FA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4000 均摊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6BC3F-F4D5-446B-BBEE-2DBD71D2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38775"/>
            <a:ext cx="1104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17985-A95D-4096-BB78-35B19391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530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9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9D68"/>
                </a:solidFill>
                <a:latin typeface="Microsoft YaHei"/>
                <a:ea typeface="Microsoft YaHei"/>
                <a:cs typeface="Microsoft YaHei"/>
              </a:rPr>
              <a:t>267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6B764-39B0-46E0-8062-9A36D3E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48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8000 均摊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95D59-364D-45F6-B494-D5A530C1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95825"/>
            <a:ext cx="11049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21CD3A-FA12-439C-9A24-6C668145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100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8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8A26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DD8E32-6C21-4D1F-A3A2-5B2A3928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48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高负载假设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03697-250D-4A20-9AD9-FC352F6E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33875"/>
            <a:ext cx="1104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754F59-B1FD-4467-8B23-643AD442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48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DF8BB1-9D4E-4A11-B054-D03876F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48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当前上限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5894F1-77BB-4EBE-B6BA-E54221A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3632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5942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1A634-E0BF-4A53-987D-92FC9B5C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07 / 近期数据验证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06B39-847A-44EF-98B2-A43952E2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导出数据证明核心闭环已跑通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5644E-4159-4DF3-815A-EA7F56FF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376C8-465C-4EA1-BAC8-6694CF56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0F8EA-C60E-4B94-83DC-47CD8003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17 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F00DA-276A-4038-B8B7-3EBC2C67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当前两表后台采样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187EC-15AD-4EF2-B296-2D33F7F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全部 ok = true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5FE1D-0D90-47D5-9DCB-E93D8698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EBE75-B6D7-4621-9C5A-BA191248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95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9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F9D68"/>
                </a:solidFill>
                <a:latin typeface="Microsoft YaHei"/>
                <a:ea typeface="Microsoft YaHei"/>
                <a:cs typeface="Microsoft YaHei"/>
              </a:rPr>
              <a:t>11 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01D9A-A597-405C-871C-F6CC195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当前两表调度任务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521E8-6DA6-4A57-BC50-A383B342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全部 done，attempts 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931D5-5388-4B21-831A-145663B3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77CF1-DBDD-4868-8AD4-4DEC25F4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8A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D98A26"/>
                </a:solidFill>
                <a:latin typeface="Microsoft YaHei"/>
                <a:ea typeface="Microsoft YaHei"/>
                <a:cs typeface="Microsoft YaHei"/>
              </a:rPr>
              <a:t>2 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8D5A2-D294-476F-ADE9-15DB283B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当前规则提醒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D30C7-91DE-49AD-95D7-E333B8DF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阈值 20，状态 sent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2ECB1-A2C5-4946-9951-11220FD7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2476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24983-9525-4CB9-A306-BA9955C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955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23EC4-EA72-4191-BDAB-2BF921B9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充值后状态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311FA-558D-4BD3-81B0-8B1E746C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lowPowerNotifiedAt 已清空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C6D82-7B12-4B6C-8313-36F47DD2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12701C-F003-49AD-93C3-B0811B01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0478D-93FC-40FC-9DEA-40DC93A9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2026-07-16：43792/light 剩余 10 kWh，成功发送低电邮件。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F585CA-4495-4740-8D69-1DE05151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AD8129-2D01-42AB-A8DE-F77BE7F5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2026-07-16：44878/ac 剩余 16 kWh，成功发送低电邮件。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5C6F8-B343-4B34-A421-32D6629A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624A7-4EB3-4B05-8FDC-AD8D7A1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2026-07-17：两块表均检测到充值，调度状态回到 normal。</a:t>
            </a:r>
          </a:p>
        </p:txBody>
      </p:sp>
    </p:spTree>
    <p:extLst>
      <p:ext uri="{BB962C8B-B14F-4D97-AF65-F5344CB8AC3E}">
        <p14:creationId xmlns:p14="http://schemas.microsoft.com/office/powerpoint/2010/main" val="1612552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D3227-9EA3-4589-96BE-BC26FCE0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08 / dormant 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84D34-9890-4B61-9093-43FC8447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新增闲置状态，保护日耗估算不被假期污染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A446C-882C-4E9F-8135-E10C99F7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E6380-23ED-4348-914E-3DB72BB2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8023C-7004-4794-B80B-4EDE2C9C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57D59-0CB3-48B1-8798-B8DF59D6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B3BC4-EACB-46DE-9A9E-C1E79179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按模型预测查询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6EC58-2D1A-49CA-A1D3-3BFD05B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31B84-B818-4B8B-AD2F-E006C999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B2A8A-5A0A-499F-8C99-6F39258C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62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6A30A-2322-419F-AA1C-2BDE1B6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812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接近阈值，每天查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19611-0B7A-4DFD-8BC8-5469F14F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0EFC1-521E-48AE-833A-E0EDE051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CEA75-C014-4B59-B630-E63C4AE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notified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5E92F-3941-4B1A-8C3B-008D9467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812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已低电提醒，每天查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EA4DB-CDFE-422B-99FE-F764710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C81D5-AB07-464B-8CC7-CDBEDE70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662E7-0272-40C6-9D2A-AF4B9F82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62175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dormant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287DD-4989-4C5F-9CDC-EBE5D383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81275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疑似闲置，7 天查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EDB9A-36E1-4878-952D-9D2BB0FA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 dormant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33A92-E3AD-4BAE-A056-E67FB937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F9680-ADE5-45AA-A4CD-BF6153D6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连续两次有效后台样本 observedDailyUsageKwh &lt; 1。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59371-A260-4515-BE72-67D4B584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1E3D5-1EF9-42D7-B6F5-97D93B3D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remainingKwh 仍处于安全区，建议 &gt; 25 或更保守 &gt; 40。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C7B83-A67F-4A5A-A337-8CB2FCC1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48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EC588-4B00-4A65-B25C-8B37E508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468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进入后不下调 estimatedDailyUsageKwh，只降低探测频率。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5EF27-0EB8-49B1-9B26-CBA7EFBE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退出 dormant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39264F-FFCF-4498-BA77-8004D1C0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100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80737-99E4-48E7-A4EB-53DAF305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检测到明显用电或进入 near_threshold。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AE42B-9504-46F9-822B-D3D4DFF4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291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B2A1F-8B57-413A-B304-64AB67C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本次长间隔样本只作为新基线，不更新 estimated。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F9FA3-B11A-4937-840A-F78F894A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48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7AA9B8-9D39-4B12-8AD0-A824DD9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387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下一次正常采样后再恢复估算更新。</a:t>
            </a:r>
          </a:p>
        </p:txBody>
      </p:sp>
    </p:spTree>
    <p:extLst>
      <p:ext uri="{BB962C8B-B14F-4D97-AF65-F5344CB8AC3E}">
        <p14:creationId xmlns:p14="http://schemas.microsoft.com/office/powerpoint/2010/main" val="18699394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F5489-F6A3-422F-A2C4-0081A17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09 / 优化路线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6ACBB-639C-481D-A7A2-52939038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优先改模型保护，再补容量和可观测性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AC419-B1AD-453D-8D5C-16789239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1CD36-2F81-4B56-B4A3-2F5CFE03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56416-810C-42A0-8B9F-C3BAD7C5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B372B-41B6-4503-8C7B-88C52BB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第一优先级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2552A-1AE4-4271-9F24-043EDC9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724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引入 observedDailyUsageKwh、inactiveSampleCount、dormantDetectedAt、lastActiveUsageAt。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目标：闲置样本不污染正常日耗估算。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AFA64-7D53-4D1D-A2FC-8A079637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89B5D-6E63-4714-896E-4C98707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050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59D23-6164-4B1A-BAE3-188166A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14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第二优先级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2EE42-165A-4CC4-AA65-9D398114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33650"/>
            <a:ext cx="2724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失败重试从固定 10 分钟改为退避：10 分钟、30 分钟、2 小时、次日。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目标：学校页面异常时不挤占容量。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9A153-D4E9-4A85-961E-41634D9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235A7-8C57-4588-96DC-2331DE3F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4873C-B47F-497B-BC56-E2AEFC73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14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第三优先级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5DC9D-EDDD-4B78-8077-3BAC3F46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7241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增加调度监控：到期积压量、失败率、邮件失败数、单日查询量。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目标：增长后能判断是否需要扩容。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3A9DE-3D66-4D82-90AA-2B1059EB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不建议现在做重并发扩容：当前目标规模下容量够用，过早提高爬取频率反而增加外部页面压力。</a:t>
            </a:r>
          </a:p>
        </p:txBody>
      </p:sp>
    </p:spTree>
    <p:extLst>
      <p:ext uri="{BB962C8B-B14F-4D97-AF65-F5344CB8AC3E}">
        <p14:creationId xmlns:p14="http://schemas.microsoft.com/office/powerpoint/2010/main" val="1997527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7684F-6BC1-47D3-9429-C0FE955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D8B23-1048-40DE-B603-861B197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当前系统已经具备可用闭环；下一步最有价值的是让模型知道“没用电”和“正常低耗”不是一回事。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FB7E0-9552-4E6E-8B88-F96A00EA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2776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06300-995F-4CF1-91D4-9EBF67A3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建议落地判断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307D5-200E-4C0A-9956-50618DA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A6C4A-2454-4F06-8CF9-CCD61177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982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目标规模 4000-8000 表时，当前调度容量基本够用。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94DF8-5093-47E5-B545-DEDD7BF8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D6E45-3512-4262-B184-8470FB01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982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dormant 先用 7 天复查；后续容量紧张再调到 10 或 14 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11D23-9725-4DBC-AB45-A823097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763B7-F173-40BC-9879-AD826F1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982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near_threshold 和 notified 先保持每天查，后续由监控数据决定是否降频。</a:t>
            </a:r>
          </a:p>
        </p:txBody>
      </p:sp>
    </p:spTree>
    <p:extLst>
      <p:ext uri="{BB962C8B-B14F-4D97-AF65-F5344CB8AC3E}">
        <p14:creationId xmlns:p14="http://schemas.microsoft.com/office/powerpoint/2010/main" val="871895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2026-07-18T09:15:55.9160000Z</dcterms:created>
  <dcterms:modified xsi:type="dcterms:W3CDTF">2026-07-18T09:15:55.9160000Z</dcterms:modified>
</coreProperties>
</file>